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0" r:id="rId6"/>
    <p:sldId id="273" r:id="rId7"/>
    <p:sldId id="274" r:id="rId8"/>
    <p:sldId id="271" r:id="rId9"/>
    <p:sldId id="272" r:id="rId10"/>
    <p:sldId id="265" r:id="rId11"/>
    <p:sldId id="262" r:id="rId12"/>
    <p:sldId id="275" r:id="rId13"/>
    <p:sldId id="264" r:id="rId14"/>
    <p:sldId id="268" r:id="rId15"/>
    <p:sldId id="267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" panose="020B0604020202020204" charset="0"/>
      <p:regular r:id="rId22"/>
      <p:bold r:id="rId23"/>
      <p:italic r:id="rId24"/>
      <p:boldItalic r:id="rId25"/>
    </p:embeddedFont>
    <p:embeddedFont>
      <p:font typeface="Roboto Light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7" autoAdjust="0"/>
    <p:restoredTop sz="94660"/>
  </p:normalViewPr>
  <p:slideViewPr>
    <p:cSldViewPr snapToGrid="0">
      <p:cViewPr>
        <p:scale>
          <a:sx n="100" d="100"/>
          <a:sy n="100" d="100"/>
        </p:scale>
        <p:origin x="90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858543af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b858543af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858543af8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858543af8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ca3fed30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ca3fed30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858543af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858543af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b858543af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b858543af8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b858543af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b858543af8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657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b858543af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b858543af8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668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b858543af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b858543af8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871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b858543af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b858543af8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4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b858543af8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b858543af8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858543af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b858543af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858543af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b858543af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4174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858543af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858543af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858543af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b858543af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858543af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b858543af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gif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9850" y="2571750"/>
            <a:ext cx="7411800" cy="14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lang="ru-RU" sz="4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Изучение сборщиков мусора</a:t>
            </a:r>
            <a:r>
              <a:rPr lang="en-US" sz="1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java-</a:t>
            </a:r>
            <a:r>
              <a:rPr lang="ru-RU" sz="1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приложений</a:t>
            </a:r>
            <a:endParaRPr sz="1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439850" y="4062450"/>
            <a:ext cx="7411800" cy="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lang="ru" sz="12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Цимерман Илья, </a:t>
            </a:r>
            <a:r>
              <a:rPr lang="en-US" sz="12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java developer</a:t>
            </a:r>
            <a:endParaRPr sz="1200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5656875" y="1307700"/>
            <a:ext cx="2634600" cy="25281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623900" y="266375"/>
            <a:ext cx="24660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lang="ru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Обо мне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23900" y="1162375"/>
            <a:ext cx="4015335" cy="3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200"/>
              <a:buFont typeface="Roboto Light"/>
              <a:buChar char="●"/>
            </a:pPr>
            <a:r>
              <a:rPr lang="en-US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Java developer</a:t>
            </a:r>
            <a:endParaRPr sz="1800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200"/>
              <a:buFont typeface="Roboto Light"/>
              <a:buChar char="●"/>
            </a:pPr>
            <a:r>
              <a:rPr lang="en-US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1</a:t>
            </a:r>
            <a: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месяц</a:t>
            </a:r>
            <a:endParaRPr sz="1800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200"/>
              <a:buFont typeface="Roboto Light"/>
              <a:buChar char="●"/>
            </a:pPr>
            <a:r>
              <a:rPr lang="en-US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Backend </a:t>
            </a:r>
            <a: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для </a:t>
            </a:r>
            <a:r>
              <a:rPr lang="en-US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ABS X-bank</a:t>
            </a:r>
            <a:endParaRPr sz="1800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200"/>
              <a:buFont typeface="Roboto Light"/>
              <a:buChar char="●"/>
            </a:pPr>
            <a: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Заканчивал МГТУ им. Баумана</a:t>
            </a:r>
            <a:b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Имеются научные публикации</a:t>
            </a:r>
            <a:b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1 год разработки на </a:t>
            </a:r>
            <a:r>
              <a:rPr lang="en-US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C++</a:t>
            </a:r>
            <a:b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Актёрское мастерство и юмор</a:t>
            </a:r>
            <a:b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-RU" sz="12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и чем я только ещё не занимаюсь</a:t>
            </a:r>
            <a:br>
              <a:rPr lang="ru-RU" sz="18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sz="1800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5836725" y="1508700"/>
            <a:ext cx="2274900" cy="2126100"/>
          </a:xfrm>
          <a:prstGeom prst="ellipse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6271875" y="2242350"/>
            <a:ext cx="14046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2"/>
                </a:solidFill>
              </a:rPr>
              <a:t>Ваше фото</a:t>
            </a: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9D9A979-42FB-4842-9F6E-B7A6950E19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72" t="31828" r="20773" b="22928"/>
          <a:stretch/>
        </p:blipFill>
        <p:spPr>
          <a:xfrm>
            <a:off x="5795848" y="1508699"/>
            <a:ext cx="2356654" cy="2126101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94249" y="1049088"/>
            <a:ext cx="5346570" cy="30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ru" sz="2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Тема </a:t>
            </a:r>
            <a:r>
              <a:rPr lang="en-US" sz="2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meetup</a:t>
            </a:r>
            <a:r>
              <a:rPr lang="ru" sz="2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br>
              <a:rPr lang="ru" sz="2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ИССЛЕДОВАНИЕ ВЛИЯНИЯ ИСПОЛЬЗОВАНИЯ СБОРЩИКОВ МУСОРА НА ВРЕМЕННЫЕ ХАРАКТЕРИСТИКИ ВЫПОЛНЕНИЯ JAVA-ПРИЛОЖЕНИЯ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3B2098-AF0A-48FE-8A2D-FAF9174B6A5A}"/>
              </a:ext>
            </a:extLst>
          </p:cNvPr>
          <p:cNvSpPr txBox="1"/>
          <p:nvPr/>
        </p:nvSpPr>
        <p:spPr>
          <a:xfrm>
            <a:off x="356347" y="621995"/>
            <a:ext cx="61436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Цели митапа:</a:t>
            </a:r>
            <a:endParaRPr lang="ru-RU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Понять, как разные GC влияют на производительность.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Рассмотреть, когда лучше использовать тот или иной сборщик мусора.</a:t>
            </a:r>
          </a:p>
        </p:txBody>
      </p:sp>
      <p:pic>
        <p:nvPicPr>
          <p:cNvPr id="6146" name="Picture 2" descr="Heap">
            <a:extLst>
              <a:ext uri="{FF2B5EF4-FFF2-40B4-BE49-F238E27FC236}">
                <a16:creationId xmlns:a16="http://schemas.microsoft.com/office/drawing/2014/main" id="{8CC7008C-2D11-4C80-BCE7-FA9E0A2D6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335" y="2478260"/>
            <a:ext cx="4142637" cy="266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6B5E3B-0781-4D41-8F54-7FCF06461F74}"/>
              </a:ext>
            </a:extLst>
          </p:cNvPr>
          <p:cNvSpPr txBox="1"/>
          <p:nvPr/>
        </p:nvSpPr>
        <p:spPr>
          <a:xfrm>
            <a:off x="487074" y="827807"/>
            <a:ext cx="40849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Сборка мусора</a:t>
            </a:r>
            <a:r>
              <a:rPr lang="ru-RU" sz="2000" dirty="0"/>
              <a:t> – </a:t>
            </a:r>
            <a:br>
              <a:rPr lang="ru-RU" sz="2000" dirty="0"/>
            </a:br>
            <a:r>
              <a:rPr lang="ru-RU" sz="2000" dirty="0"/>
              <a:t>это механизм автоматического освобождения памяти от объектов, которые больше не используются.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6380D-8D5C-4551-9EDA-7F526F2D5A19}"/>
              </a:ext>
            </a:extLst>
          </p:cNvPr>
          <p:cNvSpPr txBox="1"/>
          <p:nvPr/>
        </p:nvSpPr>
        <p:spPr>
          <a:xfrm>
            <a:off x="487074" y="2996263"/>
            <a:ext cx="40849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"</a:t>
            </a:r>
            <a:r>
              <a:rPr lang="ru-RU" sz="2000" b="1" dirty="0"/>
              <a:t>S</a:t>
            </a:r>
            <a:r>
              <a:rPr lang="ru-RU" sz="2000" dirty="0"/>
              <a:t>top-</a:t>
            </a:r>
            <a:r>
              <a:rPr lang="ru-RU" sz="2000" b="1" dirty="0"/>
              <a:t>T</a:t>
            </a:r>
            <a:r>
              <a:rPr lang="ru-RU" sz="2000" dirty="0"/>
              <a:t>he-</a:t>
            </a:r>
            <a:r>
              <a:rPr lang="ru-RU" sz="2000" b="1" dirty="0"/>
              <a:t>W</a:t>
            </a:r>
            <a:r>
              <a:rPr lang="ru-RU" sz="2000" dirty="0"/>
              <a:t>orld" пауза или</a:t>
            </a:r>
            <a:br>
              <a:rPr lang="ru-RU" sz="2000" dirty="0"/>
            </a:br>
            <a:r>
              <a:rPr lang="en-US" sz="2000" dirty="0"/>
              <a:t>STW</a:t>
            </a:r>
            <a:r>
              <a:rPr lang="ru-RU" sz="2000" dirty="0"/>
              <a:t> или</a:t>
            </a:r>
            <a:br>
              <a:rPr lang="ru-RU" sz="2000" dirty="0"/>
            </a:br>
            <a:r>
              <a:rPr lang="ru-RU" sz="2000" dirty="0"/>
              <a:t>полная остановка мира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1A7B35-AE54-4E7D-AFE5-911988B5301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1333677"/>
            <a:ext cx="4572000" cy="3809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985080F-6A08-499F-841F-3D9C9DBD3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52711"/>
            <a:ext cx="4601213" cy="29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D2A849-0B81-4325-B3A7-8BE7E216C6E9}"/>
              </a:ext>
            </a:extLst>
          </p:cNvPr>
          <p:cNvSpPr txBox="1"/>
          <p:nvPr/>
        </p:nvSpPr>
        <p:spPr>
          <a:xfrm>
            <a:off x="473466" y="767716"/>
            <a:ext cx="568349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b="1" dirty="0"/>
              <a:t>Young Generation (младшее поколение)</a:t>
            </a:r>
            <a:r>
              <a:rPr lang="ru-RU" sz="2400" dirty="0"/>
              <a:t> — хранит недавно созданные объекты, которые часто быстро удаляются.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/>
              <a:t>Old Generation (старшее поколение)</a:t>
            </a:r>
            <a:r>
              <a:rPr lang="ru-RU" sz="2400" dirty="0"/>
              <a:t> — хранит долгоживущие объекты, которые пережили сборки в младшем поколении.</a:t>
            </a:r>
          </a:p>
        </p:txBody>
      </p:sp>
    </p:spTree>
    <p:extLst>
      <p:ext uri="{BB962C8B-B14F-4D97-AF65-F5344CB8AC3E}">
        <p14:creationId xmlns:p14="http://schemas.microsoft.com/office/powerpoint/2010/main" val="321743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F6424DA6-A902-4DF3-89BC-ADBB95300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977" y="2991018"/>
            <a:ext cx="6299947" cy="215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5810F2-4EC2-4067-9078-F99F42478E58}"/>
              </a:ext>
            </a:extLst>
          </p:cNvPr>
          <p:cNvSpPr txBox="1"/>
          <p:nvPr/>
        </p:nvSpPr>
        <p:spPr>
          <a:xfrm>
            <a:off x="491490" y="756302"/>
            <a:ext cx="81610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800" b="1" dirty="0" err="1"/>
              <a:t>Serial</a:t>
            </a:r>
            <a:r>
              <a:rPr lang="ru-RU" sz="1800" b="1" dirty="0"/>
              <a:t> GC</a:t>
            </a:r>
            <a:r>
              <a:rPr lang="ru-RU" sz="1800" dirty="0"/>
              <a:t> — для одноядерных систем, выполняется с полными паузами.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 err="1"/>
              <a:t>Parallel</a:t>
            </a:r>
            <a:r>
              <a:rPr lang="ru-RU" sz="1800" b="1" dirty="0"/>
              <a:t> GC</a:t>
            </a:r>
            <a:r>
              <a:rPr lang="ru-RU" sz="1800" dirty="0"/>
              <a:t> — оптимизирован для многопоточных систем, работает в многопоточном режиме.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/>
              <a:t>G1 GC</a:t>
            </a:r>
            <a:r>
              <a:rPr lang="ru-RU" sz="1800" dirty="0"/>
              <a:t> — фокусируется на минимизации времени пауз, работает с региональной структурой памяти.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dirty="0"/>
              <a:t>ZGC</a:t>
            </a:r>
            <a:r>
              <a:rPr lang="ru-RU" sz="1800" dirty="0"/>
              <a:t> и </a:t>
            </a:r>
            <a:r>
              <a:rPr lang="ru-RU" sz="1800" b="1" dirty="0" err="1"/>
              <a:t>Shenandoah</a:t>
            </a:r>
            <a:r>
              <a:rPr lang="ru-RU" sz="1800" b="1" dirty="0"/>
              <a:t> GC</a:t>
            </a:r>
            <a:r>
              <a:rPr lang="ru-RU" sz="1800" dirty="0"/>
              <a:t> — для работы с большими кучами, минимизируют паузы за счёт конкурентного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423216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ED9C8B6-2248-415B-ADA7-5D9CEB347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74" y="828701"/>
            <a:ext cx="6956765" cy="382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54BAE3-31D0-4A58-855F-76775BB08148}"/>
              </a:ext>
            </a:extLst>
          </p:cNvPr>
          <p:cNvSpPr txBox="1"/>
          <p:nvPr/>
        </p:nvSpPr>
        <p:spPr>
          <a:xfrm>
            <a:off x="450589" y="7955"/>
            <a:ext cx="77860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Дюк, вынеси мусор!</a:t>
            </a:r>
          </a:p>
          <a:p>
            <a:r>
              <a:rPr lang="en-US" sz="2400" u="sng" dirty="0"/>
              <a:t>https://habr.com/ru/articles/269621/</a:t>
            </a:r>
            <a:endParaRPr lang="ru-RU" sz="2400" u="sng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15A7033-4D04-4B3B-9BB4-1CDED9C0C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3" y="783512"/>
            <a:ext cx="1587147" cy="1587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361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850D27A-EAFF-472F-850D-A7ED6F647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88" y="810953"/>
            <a:ext cx="6896442" cy="383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500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CE5A39-B214-4B2D-BCB0-0C05F1F93DC7}"/>
              </a:ext>
            </a:extLst>
          </p:cNvPr>
          <p:cNvSpPr txBox="1"/>
          <p:nvPr/>
        </p:nvSpPr>
        <p:spPr>
          <a:xfrm>
            <a:off x="0" y="586591"/>
            <a:ext cx="55005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Преобразовываем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в объектную модель 50 раз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Регулировать объём доступной памяти и количество долгоживущих объектов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Фиксируем результат работы исследуемого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HTML-страницы взяты из </a:t>
            </a:r>
            <a:r>
              <a:rPr lang="ru-RU" sz="1800" dirty="0" err="1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openjdk</a:t>
            </a:r>
            <a:r>
              <a:rPr lang="ru-RU" sz="1800" dirty="0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15.0.1 </a:t>
            </a:r>
            <a:r>
              <a:rPr lang="ru-RU" sz="1800" dirty="0" err="1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javadoc</a:t>
            </a:r>
            <a:r>
              <a:rPr lang="ru-RU" sz="1800" dirty="0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в количестве 10133 файлов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выполняется пакетом jsoup-1.13.1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OpenJDK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рабочих потоков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(R)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(TM) i3-8130U CPU @ 2.20GHz, 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8Гб DDR4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Ubuntu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20.04.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79A18C-6F8F-4FF1-A0D7-CF54EE2A62C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036820" y="783908"/>
            <a:ext cx="3599180" cy="313753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CD4B11-2E12-4072-A1AB-1DAD3A2D691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08000" y="783908"/>
            <a:ext cx="3362960" cy="31375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D29888-5996-4BE2-9605-B43AD66EFE25}"/>
              </a:ext>
            </a:extLst>
          </p:cNvPr>
          <p:cNvSpPr txBox="1"/>
          <p:nvPr/>
        </p:nvSpPr>
        <p:spPr>
          <a:xfrm>
            <a:off x="508000" y="239832"/>
            <a:ext cx="550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38041C-19E3-45F1-919C-B7D730BBDDE1}"/>
              </a:ext>
            </a:extLst>
          </p:cNvPr>
          <p:cNvSpPr/>
          <p:nvPr/>
        </p:nvSpPr>
        <p:spPr>
          <a:xfrm>
            <a:off x="4572000" y="3921443"/>
            <a:ext cx="4572000" cy="100303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83820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Зависимости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производительности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приложения (базовых операций/сек) от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количества долгоживущих объектов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куче при выполнении тестовой программы с разными сборщиками мусора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F33BC8A-93A0-4D6F-8943-37B3AB58EC7E}"/>
              </a:ext>
            </a:extLst>
          </p:cNvPr>
          <p:cNvSpPr/>
          <p:nvPr/>
        </p:nvSpPr>
        <p:spPr>
          <a:xfrm>
            <a:off x="0" y="3945904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Зависимости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производительности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приложения (базовых операций/сек) от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объема доступной процессу памяти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(Мб) при выполнении тестовой программы с разными сборщиками мусора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1D29888-5996-4BE2-9605-B43AD66EFE25}"/>
              </a:ext>
            </a:extLst>
          </p:cNvPr>
          <p:cNvSpPr txBox="1"/>
          <p:nvPr/>
        </p:nvSpPr>
        <p:spPr>
          <a:xfrm>
            <a:off x="508000" y="239832"/>
            <a:ext cx="550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A3DEC7-D247-4A15-A7F1-B66D40639580}"/>
              </a:ext>
            </a:extLst>
          </p:cNvPr>
          <p:cNvSpPr/>
          <p:nvPr/>
        </p:nvSpPr>
        <p:spPr>
          <a:xfrm>
            <a:off x="0" y="786756"/>
            <a:ext cx="491797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Выбор GC зависит от потребностей приложения: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Для однопоточных и небольших приложений</a:t>
            </a:r>
            <a:r>
              <a:rPr lang="ru-RU" dirty="0"/>
              <a:t> — лучше </a:t>
            </a:r>
            <a:r>
              <a:rPr lang="ru-RU" dirty="0" err="1"/>
              <a:t>Serial</a:t>
            </a:r>
            <a:r>
              <a:rPr lang="ru-RU" dirty="0"/>
              <a:t> или </a:t>
            </a:r>
            <a:r>
              <a:rPr lang="ru-RU" dirty="0" err="1"/>
              <a:t>Parallel</a:t>
            </a:r>
            <a:r>
              <a:rPr lang="ru-RU" dirty="0"/>
              <a:t> GC.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Для многопоточных приложений с высоким SLA</a:t>
            </a:r>
            <a:r>
              <a:rPr lang="ru-RU" dirty="0"/>
              <a:t> — G1 GC.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Для приложений с большими кучами и строгими требованиями к задержке</a:t>
            </a:r>
            <a:r>
              <a:rPr lang="ru-RU" dirty="0"/>
              <a:t> — ZGC или </a:t>
            </a:r>
            <a:r>
              <a:rPr lang="ru-RU" dirty="0" err="1"/>
              <a:t>Shenandoah</a:t>
            </a:r>
            <a:r>
              <a:rPr lang="ru-RU" dirty="0"/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063054-1542-42FD-B6C8-9A52D442B0B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973900" y="2472453"/>
            <a:ext cx="5196200" cy="196955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32ACC70-5EBD-48BD-B4DE-03FE58372224}"/>
              </a:ext>
            </a:extLst>
          </p:cNvPr>
          <p:cNvSpPr/>
          <p:nvPr/>
        </p:nvSpPr>
        <p:spPr>
          <a:xfrm>
            <a:off x="2631972" y="4356744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Среднее время остановки мира сборщиков мусора при работе с кучей, содержащей разное количество долгоживущих объектов,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мс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7116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F294108-C771-4859-AD23-82D6BD2972C5}"/>
              </a:ext>
            </a:extLst>
          </p:cNvPr>
          <p:cNvSpPr/>
          <p:nvPr/>
        </p:nvSpPr>
        <p:spPr>
          <a:xfrm>
            <a:off x="434340" y="207577"/>
            <a:ext cx="8275320" cy="4728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83820" algn="just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Выводы</a:t>
            </a:r>
          </a:p>
          <a:p>
            <a:pPr indent="83820"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Распределение времени исполнения операций </a:t>
            </a:r>
            <a:r>
              <a:rPr lang="ru-RU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Јаѵа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-приложения, не хранящего в памяти большое количество долгоживущих объектов, но активно порождающего короткоживущие, не сильно зависит от того, какой сборщик мусора используется. С другой стороны, производительность приложения при использовании более интеллектуальных сборщиков будет ниже из-за увеличенных накладных расходов. Также вне зависимости от используемого сборщика увеличение объема доступной памяти влечет некоторое увеличение производительности программы за счет сокращения общего количества сборок мусора.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83820"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Временные характеристики работы приложения, управляющего не самой большой кучей и имеющего в наличии достаточное количество свободной памяти, как и в первом случае, не сильно зависят от используемого сборщика мусора. Но при увеличении памяти даже при относительно небольших размерах кучи (около 5,2 Гб) преимущество получают более интеллектуальные механизмы управления памятью.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/>
        </p:nvSpPr>
        <p:spPr>
          <a:xfrm>
            <a:off x="600575" y="1433600"/>
            <a:ext cx="4077900" cy="11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к спикеру</a:t>
            </a:r>
            <a:endParaRPr sz="2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533</Words>
  <Application>Microsoft Office PowerPoint</Application>
  <PresentationFormat>Экран (16:9)</PresentationFormat>
  <Paragraphs>46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Times New Roman</vt:lpstr>
      <vt:lpstr>Roboto Light</vt:lpstr>
      <vt:lpstr>Calibri</vt:lpstr>
      <vt:lpstr>Roboto</vt:lpstr>
      <vt:lpstr>Arial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илья цимерман</cp:lastModifiedBy>
  <cp:revision>11</cp:revision>
  <dcterms:modified xsi:type="dcterms:W3CDTF">2024-11-10T21:53:48Z</dcterms:modified>
</cp:coreProperties>
</file>